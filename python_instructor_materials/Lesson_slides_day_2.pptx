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86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065033-1559-4DE2-94B7-11E111871C1C}" type="datetimeFigureOut">
              <a:rPr lang="en-GB" smtClean="0"/>
              <a:t>05/11/2024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89682F-0335-48B5-910C-1669884CC1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34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9682F-0335-48B5-910C-1669884CC1CE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3598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32496-0420-5103-9A08-4BC3BA4023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EF031B-306F-727C-0468-685E2B3B00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FB567-32AB-7F62-4664-0A48C36B2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D45CC-B4D8-421A-80A3-565CB046D52F}" type="datetimeFigureOut">
              <a:rPr lang="en-GB" smtClean="0"/>
              <a:t>05/11/2024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7EB24-CFE8-D455-3E3D-E7C6543B9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28132A-CBD6-21F2-572E-7A32A3941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3B458-B1CA-464C-93AC-3A6F085024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8839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6B522-FED5-3146-7228-427BBE4E0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9D363-1A9C-5D87-5052-C90A2571D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3099F-9DE9-EB36-CDE0-FC2EA8624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D45CC-B4D8-421A-80A3-565CB046D52F}" type="datetimeFigureOut">
              <a:rPr lang="en-GB" smtClean="0"/>
              <a:t>05/11/2024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28D50-8B0D-D093-229A-5FF5162E1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930C-16D0-17A6-DF5C-CD197D07D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3B458-B1CA-464C-93AC-3A6F085024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2499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A593F-8695-AA1E-DD40-0DB364792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C7C42C-7D63-8B57-5963-AA273AEB41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2CCE1D-9FE0-F51A-EA3A-B523F14B2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D45CC-B4D8-421A-80A3-565CB046D52F}" type="datetimeFigureOut">
              <a:rPr lang="en-GB" smtClean="0"/>
              <a:t>05/11/2024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5E420-B0F0-307D-3AA3-15FBCE817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817C9-252B-43DB-0670-27737F6D9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3B458-B1CA-464C-93AC-3A6F085024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1047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BFF1F-5BE4-E04A-E1BF-6FF003204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453AC-EBF7-8A95-F505-98EA91EE17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FDD740-DF1D-76A6-EE9E-9C032AEA0F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D8C9FC-C063-DB44-C6EA-9D0906686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D45CC-B4D8-421A-80A3-565CB046D52F}" type="datetimeFigureOut">
              <a:rPr lang="en-GB" smtClean="0"/>
              <a:t>05/11/2024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1829CC-295F-ACC5-1C0B-D0ADF0C55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760244-21AC-CFC7-A090-23F91943B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3B458-B1CA-464C-93AC-3A6F085024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3288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CFE83-613F-79C7-A404-46147D436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9C5F6F-A781-E743-D4B4-A237BF33DD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3767BA-78FB-8FAB-1999-20184432E2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6C76FF-AFE6-DCF6-36BA-47F4F38B36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66BF0F-02D5-88BB-8F14-90D64F2B66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345579-46B4-05CA-9718-972DF6DCF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D45CC-B4D8-421A-80A3-565CB046D52F}" type="datetimeFigureOut">
              <a:rPr lang="en-GB" smtClean="0"/>
              <a:t>05/11/2024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908870-5F4C-6F19-F27C-B605AB6C1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8FE747-55A6-E621-B24B-F87DF3979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3B458-B1CA-464C-93AC-3A6F085024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6393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CA898-C8C7-80CD-492B-F6F40AC17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117BCC-F465-CDFA-7713-6E63D25FD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D45CC-B4D8-421A-80A3-565CB046D52F}" type="datetimeFigureOut">
              <a:rPr lang="en-GB" smtClean="0"/>
              <a:t>05/11/2024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B10067-3A9C-385B-F5A7-38281E4B2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8D61ED-FA55-43C9-C193-F151A7B9C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3B458-B1CA-464C-93AC-3A6F085024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0227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BD0385-D9F8-D04D-7F71-FB74BD0FF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D45CC-B4D8-421A-80A3-565CB046D52F}" type="datetimeFigureOut">
              <a:rPr lang="en-GB" smtClean="0"/>
              <a:t>05/11/2024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B49D8A-0133-7E89-FAC0-DC6993EA0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5C5F39-BFB3-B8A5-5785-146E7E3FA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3B458-B1CA-464C-93AC-3A6F085024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0930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D8248-CDD1-C508-BED5-86914CFD6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535FD-896B-8716-DAAC-EA0AD28EDF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B9EE17-080F-BEB8-6059-0B2A52D15B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04E5C6-5D36-1C2A-D152-626C1185C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D45CC-B4D8-421A-80A3-565CB046D52F}" type="datetimeFigureOut">
              <a:rPr lang="en-GB" smtClean="0"/>
              <a:t>05/11/2024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3C98FE-552F-7D5E-B74D-10E5F2C68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4F6BCA-81AC-C074-D951-43DB135F8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3B458-B1CA-464C-93AC-3A6F085024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5718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543A6-A0F3-5331-B7C3-07D09BF14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D80D26-06A7-80C8-44AC-38D4154342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3E287B-EFCB-321E-783E-8B540D809C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A47E4F-CAD5-B043-07CA-2EAEF8CB5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D45CC-B4D8-421A-80A3-565CB046D52F}" type="datetimeFigureOut">
              <a:rPr lang="en-GB" smtClean="0"/>
              <a:t>05/11/2024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B491BB-37DA-4EC2-C21C-3D08B034C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E3E40B-E63F-9B7D-29CA-D1997D03B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3B458-B1CA-464C-93AC-3A6F085024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5783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A4731-F205-B05E-0879-29E4ACB63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401A76-011F-2F13-C3EA-159A01B192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8E77C-191B-F57F-5FE6-3F903D8A8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D45CC-B4D8-421A-80A3-565CB046D52F}" type="datetimeFigureOut">
              <a:rPr lang="en-GB" smtClean="0"/>
              <a:t>05/11/2024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DE9C46-FB6A-745E-F538-CD070E794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F0607-F4B1-4E35-B91C-A3C08CFCD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3B458-B1CA-464C-93AC-3A6F085024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4623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AFBBEE-C9BA-E4A5-1F9A-87D36E590B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65FFB3-42ED-3ACE-D731-30101E33B0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6730C3-6358-94C9-7181-E8B67414F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D45CC-B4D8-421A-80A3-565CB046D52F}" type="datetimeFigureOut">
              <a:rPr lang="en-GB" smtClean="0"/>
              <a:t>05/11/2024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62164-E468-1350-B06B-B2A8698B7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30C38-D04E-4789-8606-4849BA191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3B458-B1CA-464C-93AC-3A6F085024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2039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8AD6B9-8742-60BD-54D9-1D202AF73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47768F-4583-60AF-FFF6-0DB11D370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AB4E3-B19F-CE54-5598-C1717F6CB2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6D45CC-B4D8-421A-80A3-565CB046D52F}" type="datetimeFigureOut">
              <a:rPr lang="en-GB" smtClean="0"/>
              <a:t>05/11/2024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53C062-AEEF-9F56-B812-7BFF47E359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4F70D-CD72-248E-EF4A-FF0BC4A80E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A3B458-B1CA-464C-93AC-3A6F085024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0201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4hNUtJd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Bourne_shell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C92670-83C4-49CF-A399-B1B3087010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Welcome to Day 2- Python/SWC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CD88D82-8364-25B0-BFD4-FEEC827B64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25544"/>
            <a:ext cx="9144000" cy="1655762"/>
          </a:xfrm>
        </p:spPr>
        <p:txBody>
          <a:bodyPr>
            <a:normAutofit/>
          </a:bodyPr>
          <a:lstStyle/>
          <a:p>
            <a:r>
              <a:rPr lang="en-GB" sz="2800" dirty="0"/>
              <a:t>Instructor: Leila Iñigo</a:t>
            </a:r>
          </a:p>
          <a:p>
            <a:r>
              <a:rPr lang="en-GB" sz="2800" dirty="0"/>
              <a:t>Role: Trainer of Digital skills from 4TU.ResearchData</a:t>
            </a:r>
          </a:p>
          <a:p>
            <a:r>
              <a:rPr lang="en-GB" sz="2800" dirty="0"/>
              <a:t>Helpers: </a:t>
            </a:r>
          </a:p>
        </p:txBody>
      </p:sp>
    </p:spTree>
    <p:extLst>
      <p:ext uri="{BB962C8B-B14F-4D97-AF65-F5344CB8AC3E}">
        <p14:creationId xmlns:p14="http://schemas.microsoft.com/office/powerpoint/2010/main" val="2673622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9C42D3-0D32-3004-B263-D0BA4FD06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Agenda Day 2 Python SWC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F599F-40C8-714B-F33A-BDD8FDCCE4BB}"/>
              </a:ext>
            </a:extLst>
          </p:cNvPr>
          <p:cNvSpPr txBox="1"/>
          <p:nvPr/>
        </p:nvSpPr>
        <p:spPr>
          <a:xfrm>
            <a:off x="899968" y="2276856"/>
            <a:ext cx="10168128" cy="44971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0" dirty="0">
                <a:effectLst/>
              </a:rPr>
              <a:t>09:00 - Recap of day 1  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0" dirty="0">
                <a:effectLst/>
              </a:rPr>
              <a:t> 09:30 - Making choices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effectLst/>
              </a:rPr>
              <a:t> 10:00 - Exercise 1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b="0" dirty="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effectLst/>
              </a:rPr>
              <a:t>10:15 - Coffee break</a:t>
            </a:r>
            <a:r>
              <a:rPr lang="en-US" sz="1400" b="0" dirty="0">
                <a:effectLst/>
              </a:rPr>
              <a:t> 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b="0" dirty="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0" dirty="0">
                <a:effectLst/>
              </a:rPr>
              <a:t>10:30 - Creating functions  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0" dirty="0">
                <a:effectLst/>
              </a:rPr>
              <a:t>11:00 – Reusability/Modular coding/Documentation 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effectLst/>
              </a:rPr>
              <a:t>11:30 - Exercise 2 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en-US" sz="1400" b="0" dirty="0">
                <a:effectLst/>
              </a:rPr>
            </a:br>
            <a:r>
              <a:rPr lang="en-US" sz="1400" b="1" dirty="0">
                <a:effectLst/>
              </a:rPr>
              <a:t>12:00 – Lunch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400" b="0" dirty="0">
              <a:effectLst/>
            </a:endParaRPr>
          </a:p>
          <a:p>
            <a:pPr marL="171450" indent="-1714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0" dirty="0">
                <a:effectLst/>
              </a:rPr>
              <a:t>12:30 – Errors and exceptions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0" dirty="0">
                <a:effectLst/>
              </a:rPr>
              <a:t>12:45 – Defensive programming  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0" dirty="0">
                <a:effectLst/>
              </a:rPr>
              <a:t>13:00 – Command Line programs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0" dirty="0">
                <a:effectLst/>
              </a:rPr>
              <a:t>13:20 - Wrap up  </a:t>
            </a:r>
          </a:p>
        </p:txBody>
      </p:sp>
    </p:spTree>
    <p:extLst>
      <p:ext uri="{BB962C8B-B14F-4D97-AF65-F5344CB8AC3E}">
        <p14:creationId xmlns:p14="http://schemas.microsoft.com/office/powerpoint/2010/main" val="28071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278656-9CDE-D34C-D138-D42FCDC32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408" y="992094"/>
            <a:ext cx="3616913" cy="2795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Live note keeping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F50AE-F3BA-4E58-C25E-8D9211F9F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6287" y="4121253"/>
            <a:ext cx="3125337" cy="113684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/>
              </a:rPr>
              <a:t>https://bit.ly/4hNUtJd</a:t>
            </a:r>
            <a:endParaRPr lang="en-US" sz="18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 algn="ctr">
              <a:buNone/>
            </a:pPr>
            <a:endParaRPr lang="en-US" sz="18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AutoShape 2" descr="QR code preview">
            <a:extLst>
              <a:ext uri="{FF2B5EF4-FFF2-40B4-BE49-F238E27FC236}">
                <a16:creationId xmlns:a16="http://schemas.microsoft.com/office/drawing/2014/main" id="{66E64B13-BC02-2B85-6D5E-D754CE650F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4A9EE1E-B1A9-1B46-97CA-0457649554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00801" y="786882"/>
            <a:ext cx="4802154" cy="4802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249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B46EFD-99EC-63A6-EBDE-07F79E5A4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GB" sz="4000"/>
              <a:t>Recap day 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73C41-CD9D-77F7-38C0-2A47ECF588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700" b="1" dirty="0">
                <a:effectLst/>
                <a:latin typeface="Consolas" panose="020B0609020204030204" pitchFamily="49" charset="0"/>
              </a:rPr>
              <a:t>Goal: Analysis inflammation data</a:t>
            </a:r>
          </a:p>
          <a:p>
            <a:pPr marL="0" indent="0">
              <a:buNone/>
            </a:pPr>
            <a:endParaRPr lang="en-US" sz="1200" b="0" dirty="0"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effectLst/>
                <a:latin typeface="Consolas" panose="020B0609020204030204" pitchFamily="49" charset="0"/>
              </a:rPr>
              <a:t>Python fundamentals on variables and lists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</a:rPr>
              <a:t>Import and </a:t>
            </a:r>
            <a:r>
              <a:rPr lang="en-US" sz="1400" b="0" dirty="0" err="1">
                <a:effectLst/>
                <a:latin typeface="Consolas" panose="020B0609020204030204" pitchFamily="49" charset="0"/>
              </a:rPr>
              <a:t>analyse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 data with `</a:t>
            </a:r>
            <a:r>
              <a:rPr lang="en-US" sz="1400" b="0" dirty="0" err="1">
                <a:effectLst/>
                <a:latin typeface="Consolas" panose="020B0609020204030204" pitchFamily="49" charset="0"/>
              </a:rPr>
              <a:t>numpy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`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</a:rPr>
              <a:t>Create figure with subplots using `</a:t>
            </a:r>
            <a:r>
              <a:rPr lang="en-US" sz="1400" b="0" dirty="0" err="1">
                <a:effectLst/>
                <a:latin typeface="Consolas" panose="020B0609020204030204" pitchFamily="49" charset="0"/>
              </a:rPr>
              <a:t>matplotlib.pyplot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`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</a:rPr>
              <a:t>Repeat analysis in a for-loop together with `glob`</a:t>
            </a:r>
          </a:p>
          <a:p>
            <a:pPr marL="0" indent="0">
              <a:buNone/>
            </a:pPr>
            <a:endParaRPr lang="en-US" sz="1400" dirty="0">
              <a:latin typeface="Consolas" panose="020B0609020204030204" pitchFamily="49" charset="0"/>
            </a:endParaRPr>
          </a:p>
          <a:p>
            <a:pPr marL="0" indent="0">
              <a:spcBef>
                <a:spcPct val="0"/>
              </a:spcBef>
              <a:buNone/>
            </a:pPr>
            <a:br>
              <a:rPr lang="en-US" sz="1200" b="0" dirty="0">
                <a:effectLst/>
                <a:latin typeface="Consolas" panose="020B0609020204030204" pitchFamily="49" charset="0"/>
              </a:rPr>
            </a:br>
            <a:r>
              <a:rPr lang="en-US" sz="2400" dirty="0">
                <a:latin typeface="+mj-lt"/>
                <a:ea typeface="+mj-ea"/>
                <a:cs typeface="+mj-cs"/>
              </a:rPr>
              <a:t>Today</a:t>
            </a:r>
          </a:p>
          <a:p>
            <a:r>
              <a:rPr lang="en-US" sz="1600" b="1" dirty="0">
                <a:effectLst/>
                <a:latin typeface="Consolas" panose="020B0609020204030204" pitchFamily="49" charset="0"/>
              </a:rPr>
              <a:t>Catch suspicious datasets with conditional statements</a:t>
            </a:r>
          </a:p>
          <a:p>
            <a:r>
              <a:rPr lang="en-US" sz="1600" b="1" dirty="0">
                <a:effectLst/>
                <a:latin typeface="Consolas" panose="020B0609020204030204" pitchFamily="49" charset="0"/>
              </a:rPr>
              <a:t>Create reusable function(s) with the analysis</a:t>
            </a:r>
          </a:p>
          <a:p>
            <a:r>
              <a:rPr lang="en-US" sz="1600" b="1" dirty="0">
                <a:effectLst/>
                <a:latin typeface="Consolas" panose="020B0609020204030204" pitchFamily="49" charset="0"/>
              </a:rPr>
              <a:t>Understand errors</a:t>
            </a:r>
          </a:p>
          <a:p>
            <a:r>
              <a:rPr lang="en-US" sz="1600" b="1" dirty="0">
                <a:effectLst/>
                <a:latin typeface="Consolas" panose="020B0609020204030204" pitchFamily="49" charset="0"/>
              </a:rPr>
              <a:t>Run python in the command line (</a:t>
            </a:r>
            <a:r>
              <a:rPr lang="en-US" sz="1600" b="1" dirty="0" err="1">
                <a:effectLst/>
                <a:latin typeface="Consolas" panose="020B0609020204030204" pitchFamily="49" charset="0"/>
              </a:rPr>
              <a:t>unix</a:t>
            </a:r>
            <a:r>
              <a:rPr lang="en-US" sz="1600" b="1" dirty="0">
                <a:latin typeface="Consolas" panose="020B0609020204030204" pitchFamily="49" charset="0"/>
              </a:rPr>
              <a:t> shell</a:t>
            </a:r>
            <a:r>
              <a:rPr lang="en-US" sz="1600" b="1" dirty="0">
                <a:effectLst/>
                <a:latin typeface="Consolas" panose="020B0609020204030204" pitchFamily="49" charset="0"/>
              </a:rPr>
              <a:t>)</a:t>
            </a:r>
          </a:p>
          <a:p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4232634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A6FA06-8B83-D589-EEFB-3C1456EF0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Tidying up / Modular Code</a:t>
            </a:r>
            <a:br>
              <a:rPr lang="en-US" sz="4800" b="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</a:br>
            <a:endParaRPr lang="en-US" sz="48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Picture 6" descr="A diagram of a function&#10;&#10;Description automatically generated">
            <a:extLst>
              <a:ext uri="{FF2B5EF4-FFF2-40B4-BE49-F238E27FC236}">
                <a16:creationId xmlns:a16="http://schemas.microsoft.com/office/drawing/2014/main" id="{282F20BA-54A9-7633-3D68-1E90E2CE14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4608" y="1658899"/>
            <a:ext cx="6846363" cy="3388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835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C8B26E-1CA2-2433-10DD-DC782020745C}"/>
              </a:ext>
            </a:extLst>
          </p:cNvPr>
          <p:cNvSpPr txBox="1">
            <a:spLocks/>
          </p:cNvSpPr>
          <p:nvPr/>
        </p:nvSpPr>
        <p:spPr>
          <a:xfrm>
            <a:off x="1115568" y="548640"/>
            <a:ext cx="10168128" cy="11795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7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Tidying up / Modular Code</a:t>
            </a:r>
            <a:br>
              <a:rPr lang="en-US" sz="3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37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8AACD-0A2A-A4E2-0C69-59CD1787325B}"/>
              </a:ext>
            </a:extLst>
          </p:cNvPr>
          <p:cNvSpPr txBox="1">
            <a:spLocks/>
          </p:cNvSpPr>
          <p:nvPr/>
        </p:nvSpPr>
        <p:spPr>
          <a:xfrm>
            <a:off x="1115568" y="2481943"/>
            <a:ext cx="10168128" cy="36950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br>
              <a:rPr lang="en-US" sz="2200" dirty="0"/>
            </a:br>
            <a:r>
              <a:rPr lang="en-US" sz="2200" dirty="0"/>
              <a:t>Modular coding is a </a:t>
            </a:r>
            <a:r>
              <a:rPr lang="en-US" sz="2200" b="1" dirty="0"/>
              <a:t>software design technique </a:t>
            </a:r>
            <a:r>
              <a:rPr lang="en-US" sz="2200" dirty="0"/>
              <a:t>that involves breaking code down into smaller, reusable units called modules or functions.</a:t>
            </a:r>
          </a:p>
          <a:p>
            <a:pPr marL="0"/>
            <a:endParaRPr lang="en-US" sz="2200" dirty="0"/>
          </a:p>
          <a:p>
            <a:pPr marL="0" indent="0">
              <a:buNone/>
            </a:pPr>
            <a:r>
              <a:rPr lang="en-US" sz="2200" dirty="0"/>
              <a:t>Advantages</a:t>
            </a:r>
          </a:p>
          <a:p>
            <a:r>
              <a:rPr lang="en-US" sz="2200" dirty="0"/>
              <a:t>Your code is </a:t>
            </a:r>
            <a:r>
              <a:rPr lang="en-US" sz="2200" b="1" dirty="0"/>
              <a:t>easier to read, debug, and maintain</a:t>
            </a:r>
            <a:r>
              <a:rPr lang="en-US" sz="2200" dirty="0"/>
              <a:t>.</a:t>
            </a:r>
          </a:p>
          <a:p>
            <a:r>
              <a:rPr lang="en-US" sz="2200" dirty="0"/>
              <a:t>Improve </a:t>
            </a:r>
            <a:r>
              <a:rPr lang="en-US" sz="2200" b="1" dirty="0"/>
              <a:t>reusability</a:t>
            </a:r>
            <a:r>
              <a:rPr lang="en-US" sz="2200" dirty="0"/>
              <a:t> of your code for yourself and others.</a:t>
            </a:r>
          </a:p>
          <a:p>
            <a:r>
              <a:rPr lang="en-US" sz="2200" dirty="0"/>
              <a:t>Use functions to break down complex tasks into </a:t>
            </a:r>
            <a:r>
              <a:rPr lang="en-US" sz="2200" b="1" dirty="0"/>
              <a:t>simpler steps</a:t>
            </a:r>
            <a:r>
              <a:rPr lang="en-US" sz="2200" dirty="0"/>
              <a:t>. (</a:t>
            </a:r>
            <a:r>
              <a:rPr lang="en-US" sz="2200" dirty="0" err="1"/>
              <a:t>undernstability</a:t>
            </a:r>
            <a:r>
              <a:rPr lang="en-US" sz="2200" dirty="0"/>
              <a:t>)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404414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A84F45-7F1C-DEFC-F0BE-E4E3EE239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3700" b="1">
                <a:effectLst/>
                <a:latin typeface="Consolas" panose="020B0609020204030204" pitchFamily="49" charset="0"/>
              </a:rPr>
              <a:t>Defensive Programming</a:t>
            </a:r>
            <a:br>
              <a:rPr lang="en-US" sz="3700" b="0">
                <a:effectLst/>
                <a:latin typeface="Consolas" panose="020B0609020204030204" pitchFamily="49" charset="0"/>
              </a:rPr>
            </a:br>
            <a:endParaRPr lang="en-GB" sz="37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891ED-140E-455B-F300-7F061F7BC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US" sz="2200" dirty="0"/>
              <a:t>Program defensively, i.e., assume that errors are going to arise, and write code to detect them when they do.</a:t>
            </a:r>
          </a:p>
          <a:p>
            <a:r>
              <a:rPr lang="en-US" sz="2200" dirty="0"/>
              <a:t>Put assertions in programs to check their state as they run, and to help readers understand how those programs are supposed to work.</a:t>
            </a:r>
          </a:p>
          <a:p>
            <a:r>
              <a:rPr lang="en-US" sz="2200" dirty="0"/>
              <a:t>Failed assertions will generate a `</a:t>
            </a:r>
            <a:r>
              <a:rPr lang="en-US" sz="2200" dirty="0" err="1"/>
              <a:t>AssertionError</a:t>
            </a:r>
            <a:r>
              <a:rPr lang="en-US" sz="2200" dirty="0"/>
              <a:t>`</a:t>
            </a:r>
          </a:p>
          <a:p>
            <a:r>
              <a:rPr lang="en-US" sz="2200" dirty="0"/>
              <a:t>Use pre-conditions to check that the inputs to a function are safe to use.</a:t>
            </a:r>
          </a:p>
          <a:p>
            <a:r>
              <a:rPr lang="en-US" sz="2200" dirty="0"/>
              <a:t>Use post-conditions to check that the output from a function is safe to use.</a:t>
            </a:r>
          </a:p>
          <a:p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612406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8CCD44-D224-4989-A79B-0B0890BDC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sz="1800" b="1" dirty="0">
                <a:effectLst/>
                <a:latin typeface="Consolas" panose="020B0609020204030204" pitchFamily="49" charset="0"/>
              </a:rPr>
              <a:t>Command-line programs: </a:t>
            </a:r>
            <a:br>
              <a:rPr lang="en-US" sz="1800" b="1" dirty="0"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effectLst/>
                <a:latin typeface="Consolas" panose="020B0609020204030204" pitchFamily="49" charset="0"/>
              </a:rPr>
              <a:t>Running python scripts in the terminal </a:t>
            </a:r>
            <a:br>
              <a:rPr lang="en-US" sz="1800" b="0" dirty="0">
                <a:effectLst/>
                <a:latin typeface="Consolas" panose="020B0609020204030204" pitchFamily="49" charset="0"/>
              </a:rPr>
            </a:br>
            <a:r>
              <a:rPr lang="en-US" sz="1800" b="1" dirty="0">
                <a:effectLst/>
                <a:latin typeface="Consolas" panose="020B0609020204030204" pitchFamily="49" charset="0"/>
              </a:rPr>
              <a:t> </a:t>
            </a:r>
            <a:br>
              <a:rPr lang="en-US" sz="1800" b="0" dirty="0">
                <a:effectLst/>
                <a:latin typeface="Consolas" panose="020B0609020204030204" pitchFamily="49" charset="0"/>
              </a:rPr>
            </a:br>
            <a:endParaRPr lang="en-GB" sz="18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7E2E9-ACEF-3208-C916-DD044DD88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259" y="2644902"/>
            <a:ext cx="3890010" cy="320725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effectLst/>
                <a:latin typeface="Aptos "/>
              </a:rPr>
              <a:t>when to use the terminal:</a:t>
            </a:r>
          </a:p>
          <a:p>
            <a:pPr marL="0" indent="0">
              <a:buNone/>
            </a:pPr>
            <a:endParaRPr lang="en-US" sz="1800" dirty="0">
              <a:effectLst/>
              <a:latin typeface="Aptos 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1800" dirty="0">
                <a:effectLst/>
                <a:latin typeface="Aptos "/>
              </a:rPr>
              <a:t>Automation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1800" dirty="0">
                <a:effectLst/>
                <a:latin typeface="Aptos "/>
              </a:rPr>
              <a:t>Working on remote servers , like an HPC/cloud platforms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1800" dirty="0">
                <a:effectLst/>
                <a:latin typeface="Aptos "/>
              </a:rPr>
              <a:t>Command line arguments : </a:t>
            </a:r>
          </a:p>
          <a:p>
            <a:pPr marL="457200" lvl="1" indent="0">
              <a:buNone/>
            </a:pPr>
            <a:r>
              <a:rPr lang="en-US" sz="1400" dirty="0">
                <a:effectLst/>
                <a:latin typeface="Aptos "/>
              </a:rPr>
              <a:t>Building command-line tools or utilities that accept arguments from the user.</a:t>
            </a:r>
          </a:p>
          <a:p>
            <a:endParaRPr lang="en-US" sz="1800" dirty="0">
              <a:latin typeface="Aptos "/>
            </a:endParaRPr>
          </a:p>
          <a:p>
            <a:pPr marL="0" indent="0">
              <a:buNone/>
            </a:pPr>
            <a:endParaRPr lang="en-GB" sz="1800" dirty="0">
              <a:latin typeface="Aptos "/>
            </a:endParaRPr>
          </a:p>
        </p:txBody>
      </p:sp>
      <p:pic>
        <p:nvPicPr>
          <p:cNvPr id="5" name="Picture 4" descr="A screenshot of a computer terminal&#10;&#10;Description automatically generated">
            <a:extLst>
              <a:ext uri="{FF2B5EF4-FFF2-40B4-BE49-F238E27FC236}">
                <a16:creationId xmlns:a16="http://schemas.microsoft.com/office/drawing/2014/main" id="{D5834816-BE09-A009-DE30-892CF738FA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901184" y="1271044"/>
            <a:ext cx="6922008" cy="44164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D7018B-C91C-BD23-48F1-3E2AF1303BD2}"/>
              </a:ext>
            </a:extLst>
          </p:cNvPr>
          <p:cNvSpPr txBox="1"/>
          <p:nvPr/>
        </p:nvSpPr>
        <p:spPr>
          <a:xfrm>
            <a:off x="9391116" y="5487485"/>
            <a:ext cx="2432076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GB" sz="700">
                <a:solidFill>
                  <a:srgbClr val="FFFFFF"/>
                </a:solidFill>
                <a:hlinkClick r:id="rId3" tooltip="https://en.wikipedia.org/wiki/Bourne_shel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GB" sz="700">
                <a:solidFill>
                  <a:srgbClr val="FFFFFF"/>
                </a:solidFill>
              </a:rPr>
              <a:t> by Unknown Author is licensed under </a:t>
            </a:r>
            <a:r>
              <a:rPr lang="en-GB" sz="700">
                <a:solidFill>
                  <a:srgbClr val="FFFFFF"/>
                </a:solidFill>
                <a:hlinkClick r:id="rId4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GB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9855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388</Words>
  <Application>Microsoft Office PowerPoint</Application>
  <PresentationFormat>Widescreen</PresentationFormat>
  <Paragraphs>58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</vt:lpstr>
      <vt:lpstr>Aptos Display</vt:lpstr>
      <vt:lpstr>Arial</vt:lpstr>
      <vt:lpstr>Calibri</vt:lpstr>
      <vt:lpstr>Consolas</vt:lpstr>
      <vt:lpstr>Office Theme</vt:lpstr>
      <vt:lpstr>Welcome to Day 2- Python/SWC</vt:lpstr>
      <vt:lpstr>Agenda Day 2 Python SWC</vt:lpstr>
      <vt:lpstr>Live note keeping </vt:lpstr>
      <vt:lpstr>Recap day 1</vt:lpstr>
      <vt:lpstr>Tidying up / Modular Code </vt:lpstr>
      <vt:lpstr>PowerPoint Presentation</vt:lpstr>
      <vt:lpstr>Defensive Programming </vt:lpstr>
      <vt:lpstr>Command-line programs:  Running python scripts in the terminal    </vt:lpstr>
    </vt:vector>
  </TitlesOfParts>
  <Company>TU Delft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Leila Iñigo de la Cruz</dc:creator>
  <cp:lastModifiedBy>Leila Iñigo de la Cruz</cp:lastModifiedBy>
  <cp:revision>7</cp:revision>
  <dcterms:created xsi:type="dcterms:W3CDTF">2024-10-23T11:55:19Z</dcterms:created>
  <dcterms:modified xsi:type="dcterms:W3CDTF">2024-11-05T10:24:26Z</dcterms:modified>
</cp:coreProperties>
</file>